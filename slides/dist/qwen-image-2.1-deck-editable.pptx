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wangsheng1991/qwen-image-2.1-bench" TargetMode="External"/><Relationship Id="rId2" Type="http://schemas.openxmlformats.org/officeDocument/2006/relationships/hyperlink" Target="https://wangsheng1991.github.io/qwen-image-2.1-bench/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85825" y="1628775"/>
            <a:ext cx="7534275" cy="781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5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Qwen-Image-2.1 到底行不行</a:t>
            </a:r>
            <a:endParaRPr lang="en-US" sz="4500" dirty="0"/>
          </a:p>
        </p:txBody>
      </p:sp>
      <p:sp>
        <p:nvSpPr>
          <p:cNvPr id="3" name="Text 1"/>
          <p:cNvSpPr txBox="1"/>
          <p:nvPr/>
        </p:nvSpPr>
        <p:spPr>
          <a:xfrm>
            <a:off x="2343150" y="2476500"/>
            <a:ext cx="4648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320" dirty="0">
                <a:solidFill>
                  <a:srgbClr val="000000">
                    <a:alpha val="50000"/>
                  </a:srgbClr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同机同卡同题面 · 对上 SenseNova-U1.5 与 FLUX.2-klein-KV</a:t>
            </a:r>
            <a:endParaRPr lang="en-US" sz="1320" dirty="0"/>
          </a:p>
        </p:txBody>
      </p:sp>
      <p:sp>
        <p:nvSpPr>
          <p:cNvPr id="4" name="Text 2"/>
          <p:cNvSpPr txBox="1"/>
          <p:nvPr/>
        </p:nvSpPr>
        <p:spPr>
          <a:xfrm>
            <a:off x="523875" y="3171825"/>
            <a:ext cx="82867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>
                    <a:alpha val="70000"/>
                  </a:srgbClr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公开榜单 18 题 75 张图 + 自建垂直题面 26 题 156 张图 · seed 42</a:t>
            </a:r>
            <a:br/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>
                    <a:alpha val="70000"/>
                  </a:srgbClr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仓库：github.com/wangsheng1991/qwen-image-2.1-bench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6285" y="1666875"/>
            <a:ext cx="1828800" cy="466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7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一句话结论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33400" y="2514600"/>
            <a:ext cx="82867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公开榜单那轮的差距 </a:t>
            </a:r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主要是口径问题</a:t>
            </a:r>
            <a:pPr algn="l" indent="0" marL="0">
              <a:lnSpc>
                <a:spcPts val="18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—— 官方要的是「提示词增强 + 2K/40 步」，我们首轮一样都没按。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33400" y="3124200"/>
            <a:ext cx="805815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垂直领域这轮的差距 </a:t>
            </a:r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主要是分工问题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—— 九个领域</a:t>
            </a:r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没有通吃的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，各有各的活。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6285" y="333375"/>
            <a:ext cx="1485900" cy="466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7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怎么测的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16630" y="914400"/>
            <a:ext cx="31546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▪ </a:t>
            </a:r>
            <a:endParaRPr lang="en-US" sz="1320" dirty="0"/>
          </a:p>
        </p:txBody>
      </p:sp>
      <p:sp>
        <p:nvSpPr>
          <p:cNvPr id="4" name="Text 2"/>
          <p:cNvSpPr txBox="1"/>
          <p:nvPr/>
        </p:nvSpPr>
        <p:spPr>
          <a:xfrm>
            <a:off x="751284" y="942975"/>
            <a:ext cx="479107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同一台机器、同一张卡、同一份题面</a:t>
            </a:r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，题面一字未改，同 seed</a:t>
            </a:r>
            <a:endParaRPr lang="en-US" sz="1320" dirty="0"/>
          </a:p>
        </p:txBody>
      </p:sp>
      <p:sp>
        <p:nvSpPr>
          <p:cNvPr id="5" name="Text 3"/>
          <p:cNvSpPr txBox="1"/>
          <p:nvPr/>
        </p:nvSpPr>
        <p:spPr>
          <a:xfrm>
            <a:off x="516630" y="1216223"/>
            <a:ext cx="31546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▪ </a:t>
            </a:r>
            <a:endParaRPr lang="en-US" sz="1320" dirty="0"/>
          </a:p>
        </p:txBody>
      </p:sp>
      <p:sp>
        <p:nvSpPr>
          <p:cNvPr id="6" name="Text 4"/>
          <p:cNvSpPr txBox="1"/>
          <p:nvPr/>
        </p:nvSpPr>
        <p:spPr>
          <a:xfrm>
            <a:off x="751284" y="1244798"/>
            <a:ext cx="618172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公开榜单：GenEval 7 / DPG-Bench 4 / LongText-Bench 6 / RGBA 1 —— </a:t>
            </a:r>
            <a:pPr algn="l" indent="0" marL="0">
              <a:buNone/>
            </a:pPr>
            <a:r>
              <a:rPr lang="en-US" sz="1320" b="1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原题面</a:t>
            </a:r>
            <a:endParaRPr lang="en-US" sz="1320" dirty="0"/>
          </a:p>
        </p:txBody>
      </p:sp>
      <p:sp>
        <p:nvSpPr>
          <p:cNvPr id="7" name="Text 5"/>
          <p:cNvSpPr txBox="1"/>
          <p:nvPr/>
        </p:nvSpPr>
        <p:spPr>
          <a:xfrm>
            <a:off x="516630" y="1518047"/>
            <a:ext cx="31546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▪ </a:t>
            </a:r>
            <a:endParaRPr lang="en-US" sz="1320" dirty="0"/>
          </a:p>
        </p:txBody>
      </p:sp>
      <p:sp>
        <p:nvSpPr>
          <p:cNvPr id="8" name="Shape 6"/>
          <p:cNvSpPr/>
          <p:nvPr/>
        </p:nvSpPr>
        <p:spPr>
          <a:xfrm>
            <a:off x="4856559" y="1546622"/>
            <a:ext cx="2114550" cy="238125"/>
          </a:xfrm>
          <a:prstGeom prst="roundRect">
            <a:avLst>
              <a:gd name="adj" fmla="val 16000"/>
            </a:avLst>
          </a:prstGeom>
          <a:solidFill>
            <a:srgbClr val="F5F5F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51284" y="1546622"/>
            <a:ext cx="650557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自建垂直题面 </a:t>
            </a:r>
            <a:pPr algn="l" indent="0" marL="0">
              <a:buNone/>
            </a:pPr>
            <a:r>
              <a:rPr lang="en-US" sz="1320" b="1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26 题 9 领域</a:t>
            </a:r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，每题写明考点与判定项（</a:t>
            </a:r>
            <a:pPr algn="l" indent="0" marL="0">
              <a:buNone/>
            </a:pPr>
            <a:r>
              <a:rPr lang="en-US" sz="1188" dirty="0">
                <a:solidFill>
                  <a:srgbClr val="00000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prompts-vertical.json</a:t>
            </a:r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）</a:t>
            </a:r>
            <a:endParaRPr lang="en-US" sz="1320" dirty="0"/>
          </a:p>
        </p:txBody>
      </p:sp>
      <p:sp>
        <p:nvSpPr>
          <p:cNvPr id="10" name="Text 8"/>
          <p:cNvSpPr txBox="1"/>
          <p:nvPr/>
        </p:nvSpPr>
        <p:spPr>
          <a:xfrm>
            <a:off x="516630" y="1819870"/>
            <a:ext cx="31546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▪ </a:t>
            </a:r>
            <a:endParaRPr lang="en-US" sz="1320" dirty="0"/>
          </a:p>
        </p:txBody>
      </p:sp>
      <p:sp>
        <p:nvSpPr>
          <p:cNvPr id="11" name="Text 9"/>
          <p:cNvSpPr txBox="1"/>
          <p:nvPr/>
        </p:nvSpPr>
        <p:spPr>
          <a:xfrm>
            <a:off x="751284" y="1848445"/>
            <a:ext cx="7429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两档分辨率：统一 1024²（可横向比）+ 各家推荐档（Qwen / SenseNova 2048²、FLUX 1536）</a:t>
            </a:r>
            <a:endParaRPr lang="en-US" sz="1320" dirty="0"/>
          </a:p>
        </p:txBody>
      </p:sp>
      <p:sp>
        <p:nvSpPr>
          <p:cNvPr id="12" name="Text 10"/>
          <p:cNvSpPr txBox="1"/>
          <p:nvPr/>
        </p:nvSpPr>
        <p:spPr>
          <a:xfrm>
            <a:off x="516630" y="2121694"/>
            <a:ext cx="31546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▪ </a:t>
            </a:r>
            <a:endParaRPr lang="en-US" sz="1320" dirty="0"/>
          </a:p>
        </p:txBody>
      </p:sp>
      <p:sp>
        <p:nvSpPr>
          <p:cNvPr id="13" name="Text 11"/>
          <p:cNvSpPr txBox="1"/>
          <p:nvPr/>
        </p:nvSpPr>
        <p:spPr>
          <a:xfrm>
            <a:off x="751284" y="2150269"/>
            <a:ext cx="533161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文字题用同一把尺子：RapidOCR 逐字比对 → 字符准确率 + 逐行命中</a:t>
            </a:r>
            <a:endParaRPr lang="en-US" sz="13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6285" y="333375"/>
            <a:ext cx="2171700" cy="466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7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公开榜单成绩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33400" y="1389608"/>
            <a:ext cx="8267700" cy="9525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465463" y="1038225"/>
            <a:ext cx="14097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Qwen-Image-2.1</a:t>
            </a:r>
            <a:endParaRPr lang="en-US" sz="1320" dirty="0"/>
          </a:p>
        </p:txBody>
      </p:sp>
      <p:sp>
        <p:nvSpPr>
          <p:cNvPr id="5" name="Text 3"/>
          <p:cNvSpPr txBox="1"/>
          <p:nvPr/>
        </p:nvSpPr>
        <p:spPr>
          <a:xfrm>
            <a:off x="5289352" y="1038225"/>
            <a:ext cx="13906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SenseNova-U1.5</a:t>
            </a:r>
            <a:endParaRPr lang="en-US" sz="1320" dirty="0"/>
          </a:p>
        </p:txBody>
      </p:sp>
      <p:sp>
        <p:nvSpPr>
          <p:cNvPr id="6" name="Text 4"/>
          <p:cNvSpPr txBox="1"/>
          <p:nvPr/>
        </p:nvSpPr>
        <p:spPr>
          <a:xfrm>
            <a:off x="7089279" y="1038225"/>
            <a:ext cx="138112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FLUX.2-klein-KV</a:t>
            </a:r>
            <a:endParaRPr lang="en-US" sz="1320" dirty="0"/>
          </a:p>
        </p:txBody>
      </p:sp>
      <p:sp>
        <p:nvSpPr>
          <p:cNvPr id="7" name="Shape 5"/>
          <p:cNvSpPr/>
          <p:nvPr/>
        </p:nvSpPr>
        <p:spPr>
          <a:xfrm>
            <a:off x="533400" y="1879104"/>
            <a:ext cx="8267700" cy="9525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09600" y="1527721"/>
            <a:ext cx="1676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1024² 单张（中位）</a:t>
            </a:r>
            <a:endParaRPr lang="en-US" sz="1320" dirty="0"/>
          </a:p>
        </p:txBody>
      </p:sp>
      <p:sp>
        <p:nvSpPr>
          <p:cNvPr id="9" name="Text 7"/>
          <p:cNvSpPr txBox="1"/>
          <p:nvPr/>
        </p:nvSpPr>
        <p:spPr>
          <a:xfrm>
            <a:off x="3465463" y="1527721"/>
            <a:ext cx="136207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52.1 s（20 步）</a:t>
            </a:r>
            <a:endParaRPr lang="en-US" sz="1320" dirty="0"/>
          </a:p>
        </p:txBody>
      </p:sp>
      <p:sp>
        <p:nvSpPr>
          <p:cNvPr id="10" name="Text 8"/>
          <p:cNvSpPr txBox="1"/>
          <p:nvPr/>
        </p:nvSpPr>
        <p:spPr>
          <a:xfrm>
            <a:off x="5289352" y="1527721"/>
            <a:ext cx="48577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9.8 s</a:t>
            </a:r>
            <a:endParaRPr lang="en-US" sz="1320" dirty="0"/>
          </a:p>
        </p:txBody>
      </p:sp>
      <p:sp>
        <p:nvSpPr>
          <p:cNvPr id="11" name="Text 9"/>
          <p:cNvSpPr txBox="1"/>
          <p:nvPr/>
        </p:nvSpPr>
        <p:spPr>
          <a:xfrm>
            <a:off x="7089279" y="1527721"/>
            <a:ext cx="4953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1.6 s</a:t>
            </a:r>
            <a:endParaRPr lang="en-US" sz="1320" dirty="0"/>
          </a:p>
        </p:txBody>
      </p:sp>
      <p:sp>
        <p:nvSpPr>
          <p:cNvPr id="12" name="Shape 10"/>
          <p:cNvSpPr/>
          <p:nvPr/>
        </p:nvSpPr>
        <p:spPr>
          <a:xfrm>
            <a:off x="533400" y="2368600"/>
            <a:ext cx="8267700" cy="9525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09600" y="2017216"/>
            <a:ext cx="17907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文字渲染 · 字符准确率</a:t>
            </a:r>
            <a:endParaRPr lang="en-US" sz="1320" dirty="0"/>
          </a:p>
        </p:txBody>
      </p:sp>
      <p:sp>
        <p:nvSpPr>
          <p:cNvPr id="14" name="Text 12"/>
          <p:cNvSpPr txBox="1"/>
          <p:nvPr/>
        </p:nvSpPr>
        <p:spPr>
          <a:xfrm>
            <a:off x="3465463" y="2017216"/>
            <a:ext cx="61912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74.6%</a:t>
            </a:r>
            <a:endParaRPr lang="en-US" sz="1320" dirty="0"/>
          </a:p>
        </p:txBody>
      </p:sp>
      <p:sp>
        <p:nvSpPr>
          <p:cNvPr id="15" name="Text 13"/>
          <p:cNvSpPr txBox="1"/>
          <p:nvPr/>
        </p:nvSpPr>
        <p:spPr>
          <a:xfrm>
            <a:off x="5289352" y="2017216"/>
            <a:ext cx="61912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86.5%</a:t>
            </a:r>
            <a:endParaRPr lang="en-US" sz="1320" dirty="0"/>
          </a:p>
        </p:txBody>
      </p:sp>
      <p:sp>
        <p:nvSpPr>
          <p:cNvPr id="16" name="Text 14"/>
          <p:cNvSpPr txBox="1"/>
          <p:nvPr/>
        </p:nvSpPr>
        <p:spPr>
          <a:xfrm>
            <a:off x="7089279" y="2017216"/>
            <a:ext cx="61912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40.8%</a:t>
            </a:r>
            <a:endParaRPr lang="en-US" sz="1320" dirty="0"/>
          </a:p>
        </p:txBody>
      </p:sp>
      <p:sp>
        <p:nvSpPr>
          <p:cNvPr id="17" name="Shape 15"/>
          <p:cNvSpPr/>
          <p:nvPr/>
        </p:nvSpPr>
        <p:spPr>
          <a:xfrm>
            <a:off x="533400" y="2858095"/>
            <a:ext cx="8267700" cy="9525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09600" y="2506712"/>
            <a:ext cx="20002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其中中文长文本逐行命中</a:t>
            </a:r>
            <a:endParaRPr lang="en-US" sz="1320" dirty="0"/>
          </a:p>
        </p:txBody>
      </p:sp>
      <p:sp>
        <p:nvSpPr>
          <p:cNvPr id="19" name="Text 17"/>
          <p:cNvSpPr txBox="1"/>
          <p:nvPr/>
        </p:nvSpPr>
        <p:spPr>
          <a:xfrm>
            <a:off x="3465463" y="2506712"/>
            <a:ext cx="58102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18/20</a:t>
            </a:r>
            <a:endParaRPr lang="en-US" sz="1320" dirty="0"/>
          </a:p>
        </p:txBody>
      </p:sp>
      <p:sp>
        <p:nvSpPr>
          <p:cNvPr id="20" name="Text 18"/>
          <p:cNvSpPr txBox="1"/>
          <p:nvPr/>
        </p:nvSpPr>
        <p:spPr>
          <a:xfrm>
            <a:off x="5289352" y="2506712"/>
            <a:ext cx="58102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18/20</a:t>
            </a:r>
            <a:endParaRPr lang="en-US" sz="1320" dirty="0"/>
          </a:p>
        </p:txBody>
      </p:sp>
      <p:sp>
        <p:nvSpPr>
          <p:cNvPr id="21" name="Text 19"/>
          <p:cNvSpPr txBox="1"/>
          <p:nvPr/>
        </p:nvSpPr>
        <p:spPr>
          <a:xfrm>
            <a:off x="7089279" y="2506712"/>
            <a:ext cx="4762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0/20</a:t>
            </a:r>
            <a:endParaRPr lang="en-US" sz="1320" dirty="0"/>
          </a:p>
        </p:txBody>
      </p:sp>
      <p:sp>
        <p:nvSpPr>
          <p:cNvPr id="22" name="Shape 20"/>
          <p:cNvSpPr/>
          <p:nvPr/>
        </p:nvSpPr>
        <p:spPr>
          <a:xfrm>
            <a:off x="533400" y="3347591"/>
            <a:ext cx="8267700" cy="9525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09600" y="2996208"/>
            <a:ext cx="19621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GenEval 组合题（7 题）</a:t>
            </a:r>
            <a:endParaRPr lang="en-US" sz="1320" dirty="0"/>
          </a:p>
        </p:txBody>
      </p:sp>
      <p:sp>
        <p:nvSpPr>
          <p:cNvPr id="24" name="Text 22"/>
          <p:cNvSpPr txBox="1"/>
          <p:nvPr/>
        </p:nvSpPr>
        <p:spPr>
          <a:xfrm>
            <a:off x="3465463" y="2996208"/>
            <a:ext cx="37147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4/7</a:t>
            </a:r>
            <a:endParaRPr lang="en-US" sz="1320" dirty="0"/>
          </a:p>
        </p:txBody>
      </p:sp>
      <p:sp>
        <p:nvSpPr>
          <p:cNvPr id="25" name="Text 23"/>
          <p:cNvSpPr txBox="1"/>
          <p:nvPr/>
        </p:nvSpPr>
        <p:spPr>
          <a:xfrm>
            <a:off x="5289352" y="2996208"/>
            <a:ext cx="37147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7/7</a:t>
            </a:r>
            <a:endParaRPr lang="en-US" sz="1320" dirty="0"/>
          </a:p>
        </p:txBody>
      </p:sp>
      <p:sp>
        <p:nvSpPr>
          <p:cNvPr id="26" name="Text 24"/>
          <p:cNvSpPr txBox="1"/>
          <p:nvPr/>
        </p:nvSpPr>
        <p:spPr>
          <a:xfrm>
            <a:off x="7089279" y="2996208"/>
            <a:ext cx="37147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7/7</a:t>
            </a:r>
            <a:endParaRPr lang="en-US" sz="1320" dirty="0"/>
          </a:p>
        </p:txBody>
      </p:sp>
      <p:sp>
        <p:nvSpPr>
          <p:cNvPr id="27" name="Shape 25"/>
          <p:cNvSpPr/>
          <p:nvPr/>
        </p:nvSpPr>
        <p:spPr>
          <a:xfrm>
            <a:off x="533400" y="3837087"/>
            <a:ext cx="8267700" cy="9525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09600" y="3485704"/>
            <a:ext cx="22288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DPG-Bench 长描述（4 题）</a:t>
            </a:r>
            <a:endParaRPr lang="en-US" sz="1320" dirty="0"/>
          </a:p>
        </p:txBody>
      </p:sp>
      <p:sp>
        <p:nvSpPr>
          <p:cNvPr id="29" name="Text 27"/>
          <p:cNvSpPr txBox="1"/>
          <p:nvPr/>
        </p:nvSpPr>
        <p:spPr>
          <a:xfrm>
            <a:off x="3465463" y="3485704"/>
            <a:ext cx="124777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2 好 / 2 有瑕疵</a:t>
            </a:r>
            <a:endParaRPr lang="en-US" sz="1320" dirty="0"/>
          </a:p>
        </p:txBody>
      </p:sp>
      <p:sp>
        <p:nvSpPr>
          <p:cNvPr id="30" name="Text 28"/>
          <p:cNvSpPr txBox="1"/>
          <p:nvPr/>
        </p:nvSpPr>
        <p:spPr>
          <a:xfrm>
            <a:off x="5289352" y="3485704"/>
            <a:ext cx="4381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4 好</a:t>
            </a:r>
            <a:endParaRPr lang="en-US" sz="1320" dirty="0"/>
          </a:p>
        </p:txBody>
      </p:sp>
      <p:sp>
        <p:nvSpPr>
          <p:cNvPr id="31" name="Text 29"/>
          <p:cNvSpPr txBox="1"/>
          <p:nvPr/>
        </p:nvSpPr>
        <p:spPr>
          <a:xfrm>
            <a:off x="7089279" y="3485704"/>
            <a:ext cx="4381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4 好</a:t>
            </a:r>
            <a:endParaRPr lang="en-US" sz="1320" dirty="0"/>
          </a:p>
        </p:txBody>
      </p:sp>
      <p:sp>
        <p:nvSpPr>
          <p:cNvPr id="32" name="Shape 30"/>
          <p:cNvSpPr/>
          <p:nvPr/>
        </p:nvSpPr>
        <p:spPr>
          <a:xfrm>
            <a:off x="533400" y="4326582"/>
            <a:ext cx="8267700" cy="9525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09600" y="3975199"/>
            <a:ext cx="132397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原生透明 RGBA</a:t>
            </a:r>
            <a:endParaRPr lang="en-US" sz="1320" dirty="0"/>
          </a:p>
        </p:txBody>
      </p:sp>
      <p:sp>
        <p:nvSpPr>
          <p:cNvPr id="34" name="Text 32"/>
          <p:cNvSpPr txBox="1"/>
          <p:nvPr/>
        </p:nvSpPr>
        <p:spPr>
          <a:xfrm>
            <a:off x="3465463" y="3975199"/>
            <a:ext cx="457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独有</a:t>
            </a:r>
            <a:endParaRPr lang="en-US" sz="1320" dirty="0"/>
          </a:p>
        </p:txBody>
      </p:sp>
      <p:sp>
        <p:nvSpPr>
          <p:cNvPr id="35" name="Text 33"/>
          <p:cNvSpPr txBox="1"/>
          <p:nvPr/>
        </p:nvSpPr>
        <p:spPr>
          <a:xfrm>
            <a:off x="5289352" y="3975199"/>
            <a:ext cx="25479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✗</a:t>
            </a:r>
            <a:endParaRPr lang="en-US" sz="1320" dirty="0"/>
          </a:p>
        </p:txBody>
      </p:sp>
      <p:sp>
        <p:nvSpPr>
          <p:cNvPr id="36" name="Text 34"/>
          <p:cNvSpPr txBox="1"/>
          <p:nvPr/>
        </p:nvSpPr>
        <p:spPr>
          <a:xfrm>
            <a:off x="7089279" y="3975199"/>
            <a:ext cx="25479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✗</a:t>
            </a:r>
            <a:endParaRPr lang="en-US" sz="1320" dirty="0"/>
          </a:p>
        </p:txBody>
      </p:sp>
      <p:sp>
        <p:nvSpPr>
          <p:cNvPr id="37" name="Text 35"/>
          <p:cNvSpPr txBox="1"/>
          <p:nvPr/>
        </p:nvSpPr>
        <p:spPr>
          <a:xfrm>
            <a:off x="533400" y="4493270"/>
            <a:ext cx="495300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>
                    <a:alpha val="70000"/>
                  </a:srgbClr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中文长文本两家打平；组合题与长描述是 Qwen 的短板，但要看下一张怎么解释。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6285" y="333375"/>
            <a:ext cx="4572000" cy="466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7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差距从哪来：口径，不是模型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33400" y="838200"/>
            <a:ext cx="81724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>
                    <a:alpha val="50000"/>
                  </a:srgbClr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同一台机器、同一张卡、2048²、20 步、seed 42，只把 GenEval 原题面改写成官方增强器风格的长描述：</a:t>
            </a:r>
            <a:endParaRPr lang="en-US" sz="132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" y="1219200"/>
            <a:ext cx="4133701" cy="319429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650480" y="1219200"/>
            <a:ext cx="31546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▪ </a:t>
            </a:r>
            <a:endParaRPr lang="en-US" sz="1320" dirty="0"/>
          </a:p>
        </p:txBody>
      </p:sp>
      <p:sp>
        <p:nvSpPr>
          <p:cNvPr id="6" name="Shape 3"/>
          <p:cNvSpPr/>
          <p:nvPr/>
        </p:nvSpPr>
        <p:spPr>
          <a:xfrm>
            <a:off x="4885134" y="1247775"/>
            <a:ext cx="2114550" cy="238125"/>
          </a:xfrm>
          <a:prstGeom prst="roundRect">
            <a:avLst>
              <a:gd name="adj" fmla="val 16000"/>
            </a:avLst>
          </a:prstGeom>
          <a:solidFill>
            <a:srgbClr val="F5F5F5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4885176" y="1247775"/>
            <a:ext cx="3934974" cy="5304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77"/>
              </a:lnSpc>
              <a:buNone/>
            </a:pPr>
            <a:r>
              <a:rPr lang="en-US" sz="1188" dirty="0">
                <a:solidFill>
                  <a:srgbClr val="00000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 photo of two clocks</a:t>
            </a:r>
            <a:pPr algn="l" indent="0" marL="0">
              <a:lnSpc>
                <a:spcPts val="2377"/>
              </a:lnSpc>
              <a:buNone/>
            </a:pPr>
            <a:r>
              <a:rPr lang="en-US" sz="132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：原题面照旧</a:t>
            </a:r>
            <a:pPr algn="l" indent="0" marL="0">
              <a:lnSpc>
                <a:spcPts val="2377"/>
              </a:lnSpc>
              <a:buNone/>
            </a:pPr>
            <a:r>
              <a:rPr lang="en-US" sz="1320" b="1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只画一个钟</a:t>
            </a:r>
            <a:pPr algn="l" indent="0" marL="0">
              <a:lnSpc>
                <a:spcPts val="2377"/>
              </a:lnSpc>
              <a:buNone/>
            </a:pPr>
            <a:r>
              <a:rPr lang="en-US" sz="132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→ 长描述</a:t>
            </a:r>
            <a:pPr algn="l" indent="0" marL="0">
              <a:lnSpc>
                <a:spcPts val="2377"/>
              </a:lnSpc>
              <a:buNone/>
            </a:pPr>
            <a:r>
              <a:rPr lang="en-US" sz="1320" b="1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正好两个</a:t>
            </a:r>
            <a:endParaRPr lang="en-US" sz="1188" dirty="0"/>
          </a:p>
        </p:txBody>
      </p:sp>
      <p:sp>
        <p:nvSpPr>
          <p:cNvPr id="8" name="Text 5"/>
          <p:cNvSpPr txBox="1"/>
          <p:nvPr/>
        </p:nvSpPr>
        <p:spPr>
          <a:xfrm>
            <a:off x="4650480" y="1822847"/>
            <a:ext cx="31546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▪ </a:t>
            </a:r>
            <a:endParaRPr lang="en-US" sz="1320" dirty="0"/>
          </a:p>
        </p:txBody>
      </p:sp>
      <p:sp>
        <p:nvSpPr>
          <p:cNvPr id="9" name="Shape 6"/>
          <p:cNvSpPr/>
          <p:nvPr/>
        </p:nvSpPr>
        <p:spPr>
          <a:xfrm>
            <a:off x="4885134" y="1851422"/>
            <a:ext cx="3067050" cy="238125"/>
          </a:xfrm>
          <a:prstGeom prst="roundRect">
            <a:avLst>
              <a:gd name="adj" fmla="val 16000"/>
            </a:avLst>
          </a:prstGeom>
          <a:solidFill>
            <a:srgbClr val="F5F5F5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885176" y="1851422"/>
            <a:ext cx="3934974" cy="5304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77"/>
              </a:lnSpc>
              <a:buNone/>
            </a:pPr>
            <a:r>
              <a:rPr lang="en-US" sz="1188" dirty="0">
                <a:solidFill>
                  <a:srgbClr val="00000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purple wine glass + black apple</a:t>
            </a:r>
            <a:pPr algn="l" indent="0" marL="0">
              <a:lnSpc>
                <a:spcPts val="2377"/>
              </a:lnSpc>
              <a:buNone/>
            </a:pPr>
            <a:r>
              <a:rPr lang="en-US" sz="132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：原题面</a:t>
            </a:r>
            <a:pPr algn="l" indent="0" marL="0">
              <a:lnSpc>
                <a:spcPts val="2377"/>
              </a:lnSpc>
              <a:buNone/>
            </a:pPr>
            <a:r>
              <a:rPr lang="en-US" sz="1320" b="1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丢苹果</a:t>
            </a:r>
            <a:pPr algn="l" indent="0" marL="0">
              <a:lnSpc>
                <a:spcPts val="2377"/>
              </a:lnSpc>
              <a:buNone/>
            </a:pPr>
            <a:r>
              <a:rPr lang="en-US" sz="132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→ 长描述</a:t>
            </a:r>
            <a:pPr algn="l" indent="0" marL="0">
              <a:lnSpc>
                <a:spcPts val="2377"/>
              </a:lnSpc>
              <a:buNone/>
            </a:pPr>
            <a:r>
              <a:rPr lang="en-US" sz="1320" b="1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两个都在、颜色绑定也对</a:t>
            </a:r>
            <a:endParaRPr lang="en-US" sz="1188" dirty="0"/>
          </a:p>
        </p:txBody>
      </p:sp>
      <p:sp>
        <p:nvSpPr>
          <p:cNvPr id="11" name="Text 8"/>
          <p:cNvSpPr txBox="1"/>
          <p:nvPr/>
        </p:nvSpPr>
        <p:spPr>
          <a:xfrm>
            <a:off x="4667250" y="2655094"/>
            <a:ext cx="41529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>
                    <a:alpha val="70000"/>
                  </a:srgbClr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这类失败是「短请求不吃」，不是「不会画」。但 2K/40 步没带来文字提升，代价却是 172 s/张。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6285" y="333375"/>
            <a:ext cx="5257800" cy="466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7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垂直领域：九个领域，没有通吃的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33400" y="1389608"/>
            <a:ext cx="8267700" cy="9525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09600" y="1038225"/>
            <a:ext cx="457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领域</a:t>
            </a:r>
            <a:endParaRPr lang="en-US" sz="1320" dirty="0"/>
          </a:p>
        </p:txBody>
      </p:sp>
      <p:sp>
        <p:nvSpPr>
          <p:cNvPr id="5" name="Text 3"/>
          <p:cNvSpPr txBox="1"/>
          <p:nvPr/>
        </p:nvSpPr>
        <p:spPr>
          <a:xfrm>
            <a:off x="1925687" y="1038225"/>
            <a:ext cx="457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推荐</a:t>
            </a:r>
            <a:endParaRPr lang="en-US" sz="1320" dirty="0"/>
          </a:p>
        </p:txBody>
      </p:sp>
      <p:sp>
        <p:nvSpPr>
          <p:cNvPr id="6" name="Text 4"/>
          <p:cNvSpPr txBox="1"/>
          <p:nvPr/>
        </p:nvSpPr>
        <p:spPr>
          <a:xfrm>
            <a:off x="4031456" y="1038225"/>
            <a:ext cx="6286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一句话</a:t>
            </a:r>
            <a:endParaRPr lang="en-US" sz="1320" dirty="0"/>
          </a:p>
        </p:txBody>
      </p:sp>
      <p:sp>
        <p:nvSpPr>
          <p:cNvPr id="7" name="Shape 5"/>
          <p:cNvSpPr/>
          <p:nvPr/>
        </p:nvSpPr>
        <p:spPr>
          <a:xfrm>
            <a:off x="533400" y="1879104"/>
            <a:ext cx="8267700" cy="9525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09600" y="1527721"/>
            <a:ext cx="838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建筑·外景</a:t>
            </a:r>
            <a:endParaRPr lang="en-US" sz="1320" dirty="0"/>
          </a:p>
        </p:txBody>
      </p:sp>
      <p:sp>
        <p:nvSpPr>
          <p:cNvPr id="9" name="Text 7"/>
          <p:cNvSpPr txBox="1"/>
          <p:nvPr/>
        </p:nvSpPr>
        <p:spPr>
          <a:xfrm>
            <a:off x="1925687" y="1527721"/>
            <a:ext cx="9715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三家都能用</a:t>
            </a:r>
            <a:endParaRPr lang="en-US" sz="1320" dirty="0"/>
          </a:p>
        </p:txBody>
      </p:sp>
      <p:sp>
        <p:nvSpPr>
          <p:cNvPr id="10" name="Text 8"/>
          <p:cNvSpPr txBox="1"/>
          <p:nvPr/>
        </p:nvSpPr>
        <p:spPr>
          <a:xfrm>
            <a:off x="4031456" y="1527721"/>
            <a:ext cx="35242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SenseNova/FLUX 会往玻璃幕墙上写幻觉招牌</a:t>
            </a:r>
            <a:endParaRPr lang="en-US" sz="1320" dirty="0"/>
          </a:p>
        </p:txBody>
      </p:sp>
      <p:sp>
        <p:nvSpPr>
          <p:cNvPr id="11" name="Shape 9"/>
          <p:cNvSpPr/>
          <p:nvPr/>
        </p:nvSpPr>
        <p:spPr>
          <a:xfrm>
            <a:off x="533400" y="2368600"/>
            <a:ext cx="8267700" cy="9525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09600" y="2017216"/>
            <a:ext cx="838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建筑·室内</a:t>
            </a:r>
            <a:endParaRPr lang="en-US" sz="1320" dirty="0"/>
          </a:p>
        </p:txBody>
      </p:sp>
      <p:sp>
        <p:nvSpPr>
          <p:cNvPr id="13" name="Text 11"/>
          <p:cNvSpPr txBox="1"/>
          <p:nvPr/>
        </p:nvSpPr>
        <p:spPr>
          <a:xfrm>
            <a:off x="1925687" y="2017216"/>
            <a:ext cx="952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SenseNova</a:t>
            </a:r>
            <a:endParaRPr lang="en-US" sz="1320" dirty="0"/>
          </a:p>
        </p:txBody>
      </p:sp>
      <p:sp>
        <p:nvSpPr>
          <p:cNvPr id="14" name="Text 12"/>
          <p:cNvSpPr txBox="1"/>
          <p:nvPr/>
        </p:nvSpPr>
        <p:spPr>
          <a:xfrm>
            <a:off x="4031456" y="2017216"/>
            <a:ext cx="16573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空间与灯光层次最稳</a:t>
            </a:r>
            <a:endParaRPr lang="en-US" sz="1320" dirty="0"/>
          </a:p>
        </p:txBody>
      </p:sp>
      <p:sp>
        <p:nvSpPr>
          <p:cNvPr id="15" name="Shape 13"/>
          <p:cNvSpPr/>
          <p:nvPr/>
        </p:nvSpPr>
        <p:spPr>
          <a:xfrm>
            <a:off x="533400" y="2858095"/>
            <a:ext cx="8267700" cy="9525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09600" y="2506712"/>
            <a:ext cx="457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人像</a:t>
            </a:r>
            <a:endParaRPr lang="en-US" sz="1320" dirty="0"/>
          </a:p>
        </p:txBody>
      </p:sp>
      <p:sp>
        <p:nvSpPr>
          <p:cNvPr id="17" name="Text 15"/>
          <p:cNvSpPr txBox="1"/>
          <p:nvPr/>
        </p:nvSpPr>
        <p:spPr>
          <a:xfrm>
            <a:off x="1925687" y="2506712"/>
            <a:ext cx="16383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SenseNova（特写）</a:t>
            </a:r>
            <a:endParaRPr lang="en-US" sz="1320" dirty="0"/>
          </a:p>
        </p:txBody>
      </p:sp>
      <p:sp>
        <p:nvSpPr>
          <p:cNvPr id="18" name="Text 16"/>
          <p:cNvSpPr txBox="1"/>
          <p:nvPr/>
        </p:nvSpPr>
        <p:spPr>
          <a:xfrm>
            <a:off x="4031456" y="2506712"/>
            <a:ext cx="23431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老人特写的皮肤细节差距最大</a:t>
            </a:r>
            <a:endParaRPr lang="en-US" sz="1320" dirty="0"/>
          </a:p>
        </p:txBody>
      </p:sp>
      <p:sp>
        <p:nvSpPr>
          <p:cNvPr id="19" name="Shape 17"/>
          <p:cNvSpPr/>
          <p:nvPr/>
        </p:nvSpPr>
        <p:spPr>
          <a:xfrm>
            <a:off x="533400" y="3347591"/>
            <a:ext cx="8267700" cy="9525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09600" y="2996208"/>
            <a:ext cx="63817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App·UI</a:t>
            </a:r>
            <a:endParaRPr lang="en-US" sz="1320" dirty="0"/>
          </a:p>
        </p:txBody>
      </p:sp>
      <p:sp>
        <p:nvSpPr>
          <p:cNvPr id="21" name="Text 19"/>
          <p:cNvSpPr txBox="1"/>
          <p:nvPr/>
        </p:nvSpPr>
        <p:spPr>
          <a:xfrm>
            <a:off x="1925687" y="2996208"/>
            <a:ext cx="952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SenseNova</a:t>
            </a:r>
            <a:endParaRPr lang="en-US" sz="1320" dirty="0"/>
          </a:p>
        </p:txBody>
      </p:sp>
      <p:sp>
        <p:nvSpPr>
          <p:cNvPr id="22" name="Text 20"/>
          <p:cNvSpPr txBox="1"/>
          <p:nvPr/>
        </p:nvSpPr>
        <p:spPr>
          <a:xfrm>
            <a:off x="4031456" y="2996208"/>
            <a:ext cx="381952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只有它 1024² 就把中文界面写对（命中 97.9%）</a:t>
            </a:r>
            <a:endParaRPr lang="en-US" sz="1320" dirty="0"/>
          </a:p>
        </p:txBody>
      </p:sp>
      <p:sp>
        <p:nvSpPr>
          <p:cNvPr id="23" name="Shape 21"/>
          <p:cNvSpPr/>
          <p:nvPr/>
        </p:nvSpPr>
        <p:spPr>
          <a:xfrm>
            <a:off x="533400" y="3837087"/>
            <a:ext cx="8267700" cy="9525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09600" y="3485704"/>
            <a:ext cx="838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商品·电商</a:t>
            </a:r>
            <a:endParaRPr lang="en-US" sz="1320" dirty="0"/>
          </a:p>
        </p:txBody>
      </p:sp>
      <p:sp>
        <p:nvSpPr>
          <p:cNvPr id="25" name="Text 23"/>
          <p:cNvSpPr txBox="1"/>
          <p:nvPr/>
        </p:nvSpPr>
        <p:spPr>
          <a:xfrm>
            <a:off x="1925687" y="3485704"/>
            <a:ext cx="9715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三家都可用</a:t>
            </a:r>
            <a:endParaRPr lang="en-US" sz="1320" dirty="0"/>
          </a:p>
        </p:txBody>
      </p:sp>
      <p:sp>
        <p:nvSpPr>
          <p:cNvPr id="26" name="Text 24"/>
          <p:cNvSpPr txBox="1"/>
          <p:nvPr/>
        </p:nvSpPr>
        <p:spPr>
          <a:xfrm>
            <a:off x="4031456" y="3485704"/>
            <a:ext cx="20002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白底图与场景图都能交付</a:t>
            </a:r>
            <a:endParaRPr lang="en-US" sz="1320" dirty="0"/>
          </a:p>
        </p:txBody>
      </p:sp>
      <p:sp>
        <p:nvSpPr>
          <p:cNvPr id="27" name="Shape 25"/>
          <p:cNvSpPr/>
          <p:nvPr/>
        </p:nvSpPr>
        <p:spPr>
          <a:xfrm>
            <a:off x="533400" y="4326582"/>
            <a:ext cx="8267700" cy="9525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09600" y="3975199"/>
            <a:ext cx="838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游戏·图标</a:t>
            </a:r>
            <a:endParaRPr lang="en-US" sz="1320" dirty="0"/>
          </a:p>
        </p:txBody>
      </p:sp>
      <p:sp>
        <p:nvSpPr>
          <p:cNvPr id="29" name="Text 27"/>
          <p:cNvSpPr txBox="1"/>
          <p:nvPr/>
        </p:nvSpPr>
        <p:spPr>
          <a:xfrm>
            <a:off x="1925687" y="3975199"/>
            <a:ext cx="12573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Qwen（单个）</a:t>
            </a:r>
            <a:endParaRPr lang="en-US" sz="1320" dirty="0"/>
          </a:p>
        </p:txBody>
      </p:sp>
      <p:sp>
        <p:nvSpPr>
          <p:cNvPr id="30" name="Text 28"/>
          <p:cNvSpPr txBox="1"/>
          <p:nvPr/>
        </p:nvSpPr>
        <p:spPr>
          <a:xfrm>
            <a:off x="4031456" y="3975199"/>
            <a:ext cx="191452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12 个成套图标三家全崩</a:t>
            </a:r>
            <a:endParaRPr lang="en-US" sz="1320" dirty="0"/>
          </a:p>
        </p:txBody>
      </p:sp>
      <p:sp>
        <p:nvSpPr>
          <p:cNvPr id="31" name="Shape 29"/>
          <p:cNvSpPr/>
          <p:nvPr/>
        </p:nvSpPr>
        <p:spPr>
          <a:xfrm>
            <a:off x="533400" y="4816078"/>
            <a:ext cx="8267700" cy="9525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09600" y="4464695"/>
            <a:ext cx="10096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动漫·二次元</a:t>
            </a:r>
            <a:endParaRPr lang="en-US" sz="1320" dirty="0"/>
          </a:p>
        </p:txBody>
      </p:sp>
      <p:sp>
        <p:nvSpPr>
          <p:cNvPr id="33" name="Text 31"/>
          <p:cNvSpPr txBox="1"/>
          <p:nvPr/>
        </p:nvSpPr>
        <p:spPr>
          <a:xfrm>
            <a:off x="1925687" y="4464695"/>
            <a:ext cx="155257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Qwen / SenseNova</a:t>
            </a:r>
            <a:endParaRPr lang="en-US" sz="1320" dirty="0"/>
          </a:p>
        </p:txBody>
      </p:sp>
      <p:sp>
        <p:nvSpPr>
          <p:cNvPr id="34" name="Text 32"/>
          <p:cNvSpPr txBox="1"/>
          <p:nvPr/>
        </p:nvSpPr>
        <p:spPr>
          <a:xfrm>
            <a:off x="4031456" y="4464695"/>
            <a:ext cx="246697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中文海报两家全对，FLUX 乱码</a:t>
            </a:r>
            <a:endParaRPr lang="en-US" sz="1320" dirty="0"/>
          </a:p>
        </p:txBody>
      </p:sp>
      <p:sp>
        <p:nvSpPr>
          <p:cNvPr id="35" name="Shape 33"/>
          <p:cNvSpPr/>
          <p:nvPr/>
        </p:nvSpPr>
        <p:spPr>
          <a:xfrm>
            <a:off x="533400" y="5248275"/>
            <a:ext cx="8267700" cy="9525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09600" y="4954191"/>
            <a:ext cx="838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漫画·分镜</a:t>
            </a:r>
            <a:endParaRPr lang="en-US" sz="1320" dirty="0"/>
          </a:p>
        </p:txBody>
      </p:sp>
      <p:sp>
        <p:nvSpPr>
          <p:cNvPr id="37" name="Text 35"/>
          <p:cNvSpPr txBox="1"/>
          <p:nvPr/>
        </p:nvSpPr>
        <p:spPr>
          <a:xfrm>
            <a:off x="1925687" y="4954191"/>
            <a:ext cx="952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SenseNova</a:t>
            </a:r>
            <a:endParaRPr lang="en-US" sz="1320" dirty="0"/>
          </a:p>
        </p:txBody>
      </p:sp>
      <p:sp>
        <p:nvSpPr>
          <p:cNvPr id="38" name="Text 36"/>
          <p:cNvSpPr txBox="1"/>
          <p:nvPr/>
        </p:nvSpPr>
        <p:spPr>
          <a:xfrm>
            <a:off x="4031456" y="4954191"/>
            <a:ext cx="21717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只有它把台词放进对应画格</a:t>
            </a:r>
            <a:endParaRPr lang="en-US" sz="13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6285" y="333375"/>
            <a:ext cx="1485900" cy="466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7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房子与人</a:t>
            </a:r>
            <a:endParaRPr lang="en-US" sz="2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549" y="914400"/>
            <a:ext cx="4133552" cy="20307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81038" y="3059460"/>
            <a:ext cx="3838575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>
                    <a:alpha val="60000"/>
                  </a:srgbClr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建筑·外景：三家 × 两档分辨率（左三为 1024 档，右三为 2048/1536 档）</a:t>
            </a:r>
            <a:endParaRPr lang="en-US" sz="9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250" y="381000"/>
            <a:ext cx="4133701" cy="266476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762625" y="3160068"/>
            <a:ext cx="194310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>
                    <a:alpha val="60000"/>
                  </a:srgbClr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人像：老人特写的皮肤细节差距最大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6285" y="333375"/>
            <a:ext cx="2295525" cy="466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7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App·UI 与动漫</a:t>
            </a:r>
            <a:endParaRPr lang="en-US" sz="2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" y="914400"/>
            <a:ext cx="4133701" cy="266476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76338" y="3693468"/>
            <a:ext cx="2847975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>
                    <a:alpha val="60000"/>
                  </a:srgbClr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App·UI：只有 SenseNova 在 1024² 就把中文界面写对</a:t>
            </a:r>
            <a:endParaRPr lang="en-US" sz="9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250" y="381000"/>
            <a:ext cx="4133701" cy="266476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133975" y="3160068"/>
            <a:ext cx="320040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>
                    <a:alpha val="60000"/>
                  </a:srgbClr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动漫·二次元：中文海报 Qwen / SenseNova 都对，FLUX 乱码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6285" y="333375"/>
            <a:ext cx="4895850" cy="466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7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掉坑点：Qwen 的四种失败模式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16630" y="914400"/>
            <a:ext cx="31546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▪ </a:t>
            </a:r>
            <a:endParaRPr lang="en-US" sz="1320" dirty="0"/>
          </a:p>
        </p:txBody>
      </p:sp>
      <p:sp>
        <p:nvSpPr>
          <p:cNvPr id="4" name="Text 2"/>
          <p:cNvSpPr txBox="1"/>
          <p:nvPr/>
        </p:nvSpPr>
        <p:spPr>
          <a:xfrm>
            <a:off x="751284" y="942975"/>
            <a:ext cx="616029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1024² 的 UI 稿会缩成小块</a:t>
            </a:r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并留幽灵重影（2048² 才恢复，命中 5/12 → 11/12）</a:t>
            </a:r>
            <a:endParaRPr lang="en-US" sz="1320" dirty="0"/>
          </a:p>
        </p:txBody>
      </p:sp>
      <p:sp>
        <p:nvSpPr>
          <p:cNvPr id="5" name="Text 3"/>
          <p:cNvSpPr txBox="1"/>
          <p:nvPr/>
        </p:nvSpPr>
        <p:spPr>
          <a:xfrm>
            <a:off x="516630" y="1216223"/>
            <a:ext cx="31546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▪ </a:t>
            </a:r>
            <a:endParaRPr lang="en-US" sz="1320" dirty="0"/>
          </a:p>
        </p:txBody>
      </p:sp>
      <p:sp>
        <p:nvSpPr>
          <p:cNvPr id="6" name="Text 4"/>
          <p:cNvSpPr txBox="1"/>
          <p:nvPr/>
        </p:nvSpPr>
        <p:spPr>
          <a:xfrm>
            <a:off x="751284" y="1244798"/>
            <a:ext cx="722947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四格漫画台词串格</a:t>
            </a:r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：四句都写出来了（命中 4/4），但配到错的画格、还夹乱码（字符 34.8%）</a:t>
            </a:r>
            <a:endParaRPr lang="en-US" sz="1320" dirty="0"/>
          </a:p>
        </p:txBody>
      </p:sp>
      <p:sp>
        <p:nvSpPr>
          <p:cNvPr id="7" name="Text 5"/>
          <p:cNvSpPr txBox="1"/>
          <p:nvPr/>
        </p:nvSpPr>
        <p:spPr>
          <a:xfrm>
            <a:off x="516630" y="1518047"/>
            <a:ext cx="31546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▪ </a:t>
            </a:r>
            <a:endParaRPr lang="en-US" sz="1320" dirty="0"/>
          </a:p>
        </p:txBody>
      </p:sp>
      <p:sp>
        <p:nvSpPr>
          <p:cNvPr id="8" name="Text 6"/>
          <p:cNvSpPr txBox="1"/>
          <p:nvPr/>
        </p:nvSpPr>
        <p:spPr>
          <a:xfrm>
            <a:off x="751284" y="1546622"/>
            <a:ext cx="3886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国风水墨两档都太淡</a:t>
            </a:r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：留白过头，山体几乎看不见</a:t>
            </a:r>
            <a:endParaRPr lang="en-US" sz="1320" dirty="0"/>
          </a:p>
        </p:txBody>
      </p:sp>
      <p:sp>
        <p:nvSpPr>
          <p:cNvPr id="9" name="Text 7"/>
          <p:cNvSpPr txBox="1"/>
          <p:nvPr/>
        </p:nvSpPr>
        <p:spPr>
          <a:xfrm>
            <a:off x="516630" y="1819870"/>
            <a:ext cx="31546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▪ </a:t>
            </a:r>
            <a:endParaRPr lang="en-US" sz="1320" dirty="0"/>
          </a:p>
        </p:txBody>
      </p:sp>
      <p:sp>
        <p:nvSpPr>
          <p:cNvPr id="10" name="Text 8"/>
          <p:cNvSpPr txBox="1"/>
          <p:nvPr/>
        </p:nvSpPr>
        <p:spPr>
          <a:xfrm>
            <a:off x="751284" y="1848445"/>
            <a:ext cx="482917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成套多元素（12 个线性图标）崩</a:t>
            </a:r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：数量、线宽、风格都不统一</a:t>
            </a:r>
            <a:endParaRPr lang="en-US" sz="1320" dirty="0"/>
          </a:p>
        </p:txBody>
      </p:sp>
      <p:sp>
        <p:nvSpPr>
          <p:cNvPr id="11" name="Text 9"/>
          <p:cNvSpPr txBox="1"/>
          <p:nvPr/>
        </p:nvSpPr>
        <p:spPr>
          <a:xfrm>
            <a:off x="533400" y="2274094"/>
            <a:ext cx="478155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>
                    <a:alpha val="70000"/>
                  </a:srgbClr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反过来，Qwen 也有两项独占优势：原生透明 RGBA、中文海报标题排版满分。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6285" y="333375"/>
            <a:ext cx="3543300" cy="466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7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选型矩阵（照这个挑）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33400" y="1389608"/>
            <a:ext cx="8267700" cy="9525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09600" y="1038225"/>
            <a:ext cx="457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场景</a:t>
            </a:r>
            <a:endParaRPr lang="en-US" sz="1320" dirty="0"/>
          </a:p>
        </p:txBody>
      </p:sp>
      <p:sp>
        <p:nvSpPr>
          <p:cNvPr id="5" name="Text 3"/>
          <p:cNvSpPr txBox="1"/>
          <p:nvPr/>
        </p:nvSpPr>
        <p:spPr>
          <a:xfrm>
            <a:off x="4304258" y="1038225"/>
            <a:ext cx="457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推荐</a:t>
            </a:r>
            <a:endParaRPr lang="en-US" sz="1320" dirty="0"/>
          </a:p>
        </p:txBody>
      </p:sp>
      <p:sp>
        <p:nvSpPr>
          <p:cNvPr id="6" name="Shape 4"/>
          <p:cNvSpPr/>
          <p:nvPr/>
        </p:nvSpPr>
        <p:spPr>
          <a:xfrm>
            <a:off x="533400" y="1879104"/>
            <a:ext cx="8267700" cy="9525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09600" y="1527721"/>
            <a:ext cx="145732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建筑 / 室内效果图</a:t>
            </a:r>
            <a:endParaRPr lang="en-US" sz="1320" dirty="0"/>
          </a:p>
        </p:txBody>
      </p:sp>
      <p:sp>
        <p:nvSpPr>
          <p:cNvPr id="8" name="Text 6"/>
          <p:cNvSpPr txBox="1"/>
          <p:nvPr/>
        </p:nvSpPr>
        <p:spPr>
          <a:xfrm>
            <a:off x="4304258" y="1527721"/>
            <a:ext cx="952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SenseNova</a:t>
            </a:r>
            <a:endParaRPr lang="en-US" sz="1320" dirty="0"/>
          </a:p>
        </p:txBody>
      </p:sp>
      <p:sp>
        <p:nvSpPr>
          <p:cNvPr id="9" name="Shape 7"/>
          <p:cNvSpPr/>
          <p:nvPr/>
        </p:nvSpPr>
        <p:spPr>
          <a:xfrm>
            <a:off x="533400" y="2368600"/>
            <a:ext cx="8267700" cy="9525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09600" y="2017216"/>
            <a:ext cx="1828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人像特写（真实皮肤）</a:t>
            </a:r>
            <a:endParaRPr lang="en-US" sz="1320" dirty="0"/>
          </a:p>
        </p:txBody>
      </p:sp>
      <p:sp>
        <p:nvSpPr>
          <p:cNvPr id="11" name="Text 9"/>
          <p:cNvSpPr txBox="1"/>
          <p:nvPr/>
        </p:nvSpPr>
        <p:spPr>
          <a:xfrm>
            <a:off x="4304258" y="2017216"/>
            <a:ext cx="952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SenseNova</a:t>
            </a:r>
            <a:endParaRPr lang="en-US" sz="1320" dirty="0"/>
          </a:p>
        </p:txBody>
      </p:sp>
      <p:sp>
        <p:nvSpPr>
          <p:cNvPr id="12" name="Shape 10"/>
          <p:cNvSpPr/>
          <p:nvPr/>
        </p:nvSpPr>
        <p:spPr>
          <a:xfrm>
            <a:off x="533400" y="2858095"/>
            <a:ext cx="8267700" cy="9525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09600" y="2506712"/>
            <a:ext cx="2209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App / 网页 UI 稿（含中文）</a:t>
            </a:r>
            <a:endParaRPr lang="en-US" sz="1320" dirty="0"/>
          </a:p>
        </p:txBody>
      </p:sp>
      <p:sp>
        <p:nvSpPr>
          <p:cNvPr id="14" name="Text 12"/>
          <p:cNvSpPr txBox="1"/>
          <p:nvPr/>
        </p:nvSpPr>
        <p:spPr>
          <a:xfrm>
            <a:off x="4304258" y="2506712"/>
            <a:ext cx="30861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SenseNova（1024² 就可用且快 5.4×）</a:t>
            </a:r>
            <a:endParaRPr lang="en-US" sz="1320" dirty="0"/>
          </a:p>
        </p:txBody>
      </p:sp>
      <p:sp>
        <p:nvSpPr>
          <p:cNvPr id="15" name="Shape 13"/>
          <p:cNvSpPr/>
          <p:nvPr/>
        </p:nvSpPr>
        <p:spPr>
          <a:xfrm>
            <a:off x="533400" y="3347591"/>
            <a:ext cx="8267700" cy="9525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09600" y="2996208"/>
            <a:ext cx="248602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番剧 / 游戏海报（中文大标题）</a:t>
            </a:r>
            <a:endParaRPr lang="en-US" sz="1320" dirty="0"/>
          </a:p>
        </p:txBody>
      </p:sp>
      <p:sp>
        <p:nvSpPr>
          <p:cNvPr id="17" name="Text 15"/>
          <p:cNvSpPr txBox="1"/>
          <p:nvPr/>
        </p:nvSpPr>
        <p:spPr>
          <a:xfrm>
            <a:off x="4304258" y="2996208"/>
            <a:ext cx="1676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Qwen 或 SenseNova</a:t>
            </a:r>
            <a:endParaRPr lang="en-US" sz="1320" dirty="0"/>
          </a:p>
        </p:txBody>
      </p:sp>
      <p:sp>
        <p:nvSpPr>
          <p:cNvPr id="18" name="Shape 16"/>
          <p:cNvSpPr/>
          <p:nvPr/>
        </p:nvSpPr>
        <p:spPr>
          <a:xfrm>
            <a:off x="533400" y="3837087"/>
            <a:ext cx="8267700" cy="9525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09600" y="3485704"/>
            <a:ext cx="1828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四格漫画（中文对白）</a:t>
            </a:r>
            <a:endParaRPr lang="en-US" sz="1320" dirty="0"/>
          </a:p>
        </p:txBody>
      </p:sp>
      <p:sp>
        <p:nvSpPr>
          <p:cNvPr id="20" name="Text 18"/>
          <p:cNvSpPr txBox="1"/>
          <p:nvPr/>
        </p:nvSpPr>
        <p:spPr>
          <a:xfrm>
            <a:off x="4304258" y="3485704"/>
            <a:ext cx="952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SenseNova</a:t>
            </a:r>
            <a:endParaRPr lang="en-US" sz="1320" dirty="0"/>
          </a:p>
        </p:txBody>
      </p:sp>
      <p:sp>
        <p:nvSpPr>
          <p:cNvPr id="21" name="Shape 19"/>
          <p:cNvSpPr/>
          <p:nvPr/>
        </p:nvSpPr>
        <p:spPr>
          <a:xfrm>
            <a:off x="533400" y="4326582"/>
            <a:ext cx="8267700" cy="9525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09600" y="3975199"/>
            <a:ext cx="145732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商品白底图 / 合影</a:t>
            </a:r>
            <a:endParaRPr lang="en-US" sz="1320" dirty="0"/>
          </a:p>
        </p:txBody>
      </p:sp>
      <p:sp>
        <p:nvSpPr>
          <p:cNvPr id="23" name="Text 21"/>
          <p:cNvSpPr txBox="1"/>
          <p:nvPr/>
        </p:nvSpPr>
        <p:spPr>
          <a:xfrm>
            <a:off x="4304258" y="3975199"/>
            <a:ext cx="8001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三家都行</a:t>
            </a:r>
            <a:endParaRPr lang="en-US" sz="1320" dirty="0"/>
          </a:p>
        </p:txBody>
      </p:sp>
      <p:sp>
        <p:nvSpPr>
          <p:cNvPr id="24" name="Shape 22"/>
          <p:cNvSpPr/>
          <p:nvPr/>
        </p:nvSpPr>
        <p:spPr>
          <a:xfrm>
            <a:off x="533400" y="4816078"/>
            <a:ext cx="8267700" cy="9525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09600" y="4464695"/>
            <a:ext cx="9715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游戏单图标</a:t>
            </a:r>
            <a:endParaRPr lang="en-US" sz="1320" dirty="0"/>
          </a:p>
        </p:txBody>
      </p:sp>
      <p:sp>
        <p:nvSpPr>
          <p:cNvPr id="26" name="Text 24"/>
          <p:cNvSpPr txBox="1"/>
          <p:nvPr/>
        </p:nvSpPr>
        <p:spPr>
          <a:xfrm>
            <a:off x="4304258" y="4464695"/>
            <a:ext cx="571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Qwen</a:t>
            </a:r>
            <a:endParaRPr lang="en-US" sz="1320" dirty="0"/>
          </a:p>
        </p:txBody>
      </p:sp>
      <p:sp>
        <p:nvSpPr>
          <p:cNvPr id="27" name="Shape 25"/>
          <p:cNvSpPr/>
          <p:nvPr/>
        </p:nvSpPr>
        <p:spPr>
          <a:xfrm>
            <a:off x="533400" y="5248275"/>
            <a:ext cx="8267700" cy="9525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09600" y="4954191"/>
            <a:ext cx="214312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成套图标 / 严格一致多元素</a:t>
            </a:r>
            <a:endParaRPr lang="en-US" sz="1320" dirty="0"/>
          </a:p>
        </p:txBody>
      </p:sp>
      <p:sp>
        <p:nvSpPr>
          <p:cNvPr id="29" name="Text 27"/>
          <p:cNvSpPr txBox="1"/>
          <p:nvPr/>
        </p:nvSpPr>
        <p:spPr>
          <a:xfrm>
            <a:off x="4304258" y="4954191"/>
            <a:ext cx="6286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都不行</a:t>
            </a:r>
            <a:endParaRPr lang="en-US" sz="13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6285" y="333375"/>
            <a:ext cx="5257800" cy="466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7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口径与局限（请连着结论一起看）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16630" y="914400"/>
            <a:ext cx="31546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▪ </a:t>
            </a:r>
            <a:endParaRPr lang="en-US" sz="1320" dirty="0"/>
          </a:p>
        </p:txBody>
      </p:sp>
      <p:sp>
        <p:nvSpPr>
          <p:cNvPr id="4" name="Text 2"/>
          <p:cNvSpPr txBox="1"/>
          <p:nvPr/>
        </p:nvSpPr>
        <p:spPr>
          <a:xfrm>
            <a:off x="751284" y="942975"/>
            <a:ext cx="414337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每题</a:t>
            </a:r>
            <a:pPr algn="l" indent="0" marL="0">
              <a:buNone/>
            </a:pPr>
            <a:r>
              <a:rPr lang="en-US" sz="1320" b="1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只出 1 张、单 seed</a:t>
            </a:r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，是抽样体检，不是榜单成绩</a:t>
            </a:r>
            <a:endParaRPr lang="en-US" sz="1320" dirty="0"/>
          </a:p>
        </p:txBody>
      </p:sp>
      <p:sp>
        <p:nvSpPr>
          <p:cNvPr id="5" name="Text 3"/>
          <p:cNvSpPr txBox="1"/>
          <p:nvPr/>
        </p:nvSpPr>
        <p:spPr>
          <a:xfrm>
            <a:off x="516630" y="1216223"/>
            <a:ext cx="31546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▪ </a:t>
            </a:r>
            <a:endParaRPr lang="en-US" sz="1320" dirty="0"/>
          </a:p>
        </p:txBody>
      </p:sp>
      <p:sp>
        <p:nvSpPr>
          <p:cNvPr id="6" name="Text 4"/>
          <p:cNvSpPr txBox="1"/>
          <p:nvPr/>
        </p:nvSpPr>
        <p:spPr>
          <a:xfrm>
            <a:off x="751284" y="1244798"/>
            <a:ext cx="62103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组合题与长描述题</a:t>
            </a:r>
            <a:pPr algn="l" indent="0" marL="0">
              <a:buNone/>
            </a:pPr>
            <a:r>
              <a:rPr lang="en-US" sz="1320" b="1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由人眼判读</a:t>
            </a:r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，不是官方 Mask2Former / mPLUG+CLIP 自动打分</a:t>
            </a:r>
            <a:endParaRPr lang="en-US" sz="1320" dirty="0"/>
          </a:p>
        </p:txBody>
      </p:sp>
      <p:sp>
        <p:nvSpPr>
          <p:cNvPr id="7" name="Text 5"/>
          <p:cNvSpPr txBox="1"/>
          <p:nvPr/>
        </p:nvSpPr>
        <p:spPr>
          <a:xfrm>
            <a:off x="516630" y="1518047"/>
            <a:ext cx="31546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▪ </a:t>
            </a:r>
            <a:endParaRPr lang="en-US" sz="1320" dirty="0"/>
          </a:p>
        </p:txBody>
      </p:sp>
      <p:sp>
        <p:nvSpPr>
          <p:cNvPr id="8" name="Text 6"/>
          <p:cNvSpPr txBox="1"/>
          <p:nvPr/>
        </p:nvSpPr>
        <p:spPr>
          <a:xfrm>
            <a:off x="751284" y="1546622"/>
            <a:ext cx="54292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消融臂的「长描述」是人工模仿增强器风格写的，</a:t>
            </a:r>
            <a:pPr algn="l" indent="0" marL="0">
              <a:buNone/>
            </a:pPr>
            <a:r>
              <a:rPr lang="en-US" sz="1320" b="1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不是</a:t>
            </a:r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官方增强器输出</a:t>
            </a:r>
            <a:endParaRPr lang="en-US" sz="1320" dirty="0"/>
          </a:p>
        </p:txBody>
      </p:sp>
      <p:sp>
        <p:nvSpPr>
          <p:cNvPr id="9" name="Text 7"/>
          <p:cNvSpPr txBox="1"/>
          <p:nvPr/>
        </p:nvSpPr>
        <p:spPr>
          <a:xfrm>
            <a:off x="516630" y="1819870"/>
            <a:ext cx="31546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▪ </a:t>
            </a:r>
            <a:endParaRPr lang="en-US" sz="1320" dirty="0"/>
          </a:p>
        </p:txBody>
      </p:sp>
      <p:sp>
        <p:nvSpPr>
          <p:cNvPr id="10" name="Text 8"/>
          <p:cNvSpPr txBox="1"/>
          <p:nvPr/>
        </p:nvSpPr>
        <p:spPr>
          <a:xfrm>
            <a:off x="751284" y="1848445"/>
            <a:ext cx="576262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三家步数不同（Qwen 20 / SenseNova 8 / FLUX 4）：「各自最佳配置」口径</a:t>
            </a:r>
            <a:endParaRPr lang="en-US" sz="1320" dirty="0"/>
          </a:p>
        </p:txBody>
      </p:sp>
      <p:sp>
        <p:nvSpPr>
          <p:cNvPr id="11" name="Text 9"/>
          <p:cNvSpPr txBox="1"/>
          <p:nvPr/>
        </p:nvSpPr>
        <p:spPr>
          <a:xfrm>
            <a:off x="516630" y="2121694"/>
            <a:ext cx="31546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▪ </a:t>
            </a:r>
            <a:endParaRPr lang="en-US" sz="1320" dirty="0"/>
          </a:p>
        </p:txBody>
      </p:sp>
      <p:sp>
        <p:nvSpPr>
          <p:cNvPr id="12" name="Text 10"/>
          <p:cNvSpPr txBox="1"/>
          <p:nvPr/>
        </p:nvSpPr>
        <p:spPr>
          <a:xfrm>
            <a:off x="751284" y="2150269"/>
            <a:ext cx="698182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新增 8 道垂直题里 Qwen 那臂借卡跑、用了更省显存的 offload 档：</a:t>
            </a:r>
            <a:pPr algn="l" indent="0" marL="0">
              <a:buNone/>
            </a:pPr>
            <a:r>
              <a:rPr lang="en-US" sz="1320" b="1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出图正常，耗时不可比</a:t>
            </a:r>
            <a:endParaRPr lang="en-US" sz="13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401318" y="1395412"/>
            <a:ext cx="2514600" cy="466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27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全部数据与复现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1485900" y="2357438"/>
            <a:ext cx="63627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报告与 231 张出图：</a:t>
            </a:r>
            <a:pPr algn="ctr" indent="0" marL="0">
              <a:buNone/>
            </a:pPr>
            <a:r>
              <a:rPr lang="en-US" sz="1350" u="dash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https://github.com/wangsheng1991/qwen-image-2.1-bench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2014538" y="2738438"/>
            <a:ext cx="530542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网页版：</a:t>
            </a:r>
            <a:pPr algn="ctr" indent="0" marL="0">
              <a:buNone/>
            </a:pPr>
            <a:r>
              <a:rPr lang="en-US" sz="1350" u="dash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https://wangsheng1991.github.io/qwen-image-2.1-bench/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1362075" y="3433762"/>
            <a:ext cx="1228725" cy="219075"/>
          </a:xfrm>
          <a:prstGeom prst="roundRect">
            <a:avLst>
              <a:gd name="adj" fmla="val 17391"/>
            </a:avLst>
          </a:prstGeom>
          <a:solidFill>
            <a:srgbClr val="F5F5F5">
              <a:alpha val="7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467100" y="3433762"/>
            <a:ext cx="1228725" cy="219075"/>
          </a:xfrm>
          <a:prstGeom prst="roundRect">
            <a:avLst>
              <a:gd name="adj" fmla="val 17391"/>
            </a:avLst>
          </a:prstGeom>
          <a:solidFill>
            <a:srgbClr val="F5F5F5">
              <a:alpha val="7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286375" y="3433762"/>
            <a:ext cx="1657350" cy="219075"/>
          </a:xfrm>
          <a:prstGeom prst="roundRect">
            <a:avLst>
              <a:gd name="adj" fmla="val 17391"/>
            </a:avLst>
          </a:prstGeom>
          <a:solidFill>
            <a:srgbClr val="F5F5F5">
              <a:alpha val="7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515225" y="3433762"/>
            <a:ext cx="800100" cy="219075"/>
          </a:xfrm>
          <a:prstGeom prst="roundRect">
            <a:avLst>
              <a:gd name="adj" fmla="val 17391"/>
            </a:avLst>
          </a:prstGeom>
          <a:solidFill>
            <a:srgbClr val="F5F5F5">
              <a:alpha val="7000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2025" y="3433762"/>
            <a:ext cx="73533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>
                    <a:alpha val="70000"/>
                  </a:srgbClr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题面 </a:t>
            </a:r>
            <a:pPr algn="ctr" indent="0" marL="0">
              <a:buNone/>
            </a:pPr>
            <a:r>
              <a:rPr lang="en-US" sz="1080" dirty="0">
                <a:solidFill>
                  <a:srgbClr val="000000">
                    <a:alpha val="70000"/>
                  </a:srgbClr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prompts*.json</a:t>
            </a:r>
            <a:pPr algn="ctr" indent="0" marL="0">
              <a:buNone/>
            </a:pPr>
            <a:r>
              <a:rPr lang="en-US" sz="1200" dirty="0">
                <a:solidFill>
                  <a:srgbClr val="000000">
                    <a:alpha val="70000"/>
                  </a:srgbClr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｜ 逐题耗时 </a:t>
            </a:r>
            <a:pPr algn="ctr" indent="0" marL="0">
              <a:buNone/>
            </a:pPr>
            <a:r>
              <a:rPr lang="en-US" sz="1080" dirty="0">
                <a:solidFill>
                  <a:srgbClr val="000000">
                    <a:alpha val="70000"/>
                  </a:srgbClr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results/*.csv</a:t>
            </a:r>
            <a:pPr algn="ctr" indent="0" marL="0">
              <a:buNone/>
            </a:pPr>
            <a:r>
              <a:rPr lang="en-US" sz="1200" dirty="0">
                <a:solidFill>
                  <a:srgbClr val="000000">
                    <a:alpha val="70000"/>
                  </a:srgbClr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｜ OCR </a:t>
            </a:r>
            <a:pPr algn="ctr" indent="0" marL="0">
              <a:buNone/>
            </a:pPr>
            <a:r>
              <a:rPr lang="en-US" sz="1080" dirty="0">
                <a:solidFill>
                  <a:srgbClr val="000000">
                    <a:alpha val="70000"/>
                  </a:srgbClr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results/*ocr*.json</a:t>
            </a:r>
            <a:pPr algn="ctr" indent="0" marL="0">
              <a:buNone/>
            </a:pPr>
            <a:r>
              <a:rPr lang="en-US" sz="1200" dirty="0">
                <a:solidFill>
                  <a:srgbClr val="000000">
                    <a:alpha val="70000"/>
                  </a:srgbClr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｜ 脚本 </a:t>
            </a:r>
            <a:pPr algn="ctr" indent="0" marL="0">
              <a:buNone/>
            </a:pPr>
            <a:r>
              <a:rPr lang="en-US" sz="1080" dirty="0">
                <a:solidFill>
                  <a:srgbClr val="000000">
                    <a:alpha val="70000"/>
                  </a:srgbClr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scripts/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Qwen-Image-2.1 到底行不行</dc:title>
  <dc:subject>三方对打实测：公开榜单 + 九个垂直领域</dc:subject>
  <dc:creator>PptxGenJS</dc:creator>
  <cp:lastModifiedBy>PptxGenJS</cp:lastModifiedBy>
  <cp:revision>1</cp:revision>
  <dcterms:created xsi:type="dcterms:W3CDTF">2026-09-21T04:03:12Z</dcterms:created>
  <dcterms:modified xsi:type="dcterms:W3CDTF">2026-09-21T04:03:12Z</dcterms:modified>
</cp:coreProperties>
</file>